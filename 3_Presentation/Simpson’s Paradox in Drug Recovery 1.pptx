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5c2e039d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5c2e039d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5c2e039d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5c2e039d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43519"/>
            <a:ext cx="8520600" cy="14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3780"/>
              <a:t>Causal Inference and ML:</a:t>
            </a:r>
            <a:endParaRPr sz="378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3780"/>
              <a:t>Simpson’s Paradox in Drug Recovery</a:t>
            </a:r>
            <a:endParaRPr sz="37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1806428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434343"/>
                </a:solidFill>
              </a:rPr>
              <a:t>Analyze the effect of a drug on recovery and demonstrate Simpson’s paradox caused by confounding variables 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656725" y="4296275"/>
            <a:ext cx="7294200" cy="6516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600"/>
              <a:t>Github Repository:</a:t>
            </a:r>
            <a:br>
              <a:rPr b="1" lang="uk" sz="1600"/>
            </a:br>
            <a:r>
              <a:rPr lang="uk" sz="1600"/>
              <a:t>https://github.com/polinato/simpsons-paradox-drug-recovery</a:t>
            </a:r>
            <a:endParaRPr sz="1600"/>
          </a:p>
        </p:txBody>
      </p:sp>
      <p:sp>
        <p:nvSpPr>
          <p:cNvPr id="57" name="Google Shape;57;p13"/>
          <p:cNvSpPr txBox="1"/>
          <p:nvPr/>
        </p:nvSpPr>
        <p:spPr>
          <a:xfrm>
            <a:off x="311700" y="3287700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solidFill>
                  <a:srgbClr val="666666"/>
                </a:solidFill>
              </a:rPr>
              <a:t>Polina Tohoieva</a:t>
            </a:r>
            <a:endParaRPr sz="16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600">
                <a:solidFill>
                  <a:srgbClr val="666666"/>
                </a:solidFill>
              </a:rPr>
              <a:t>June 1, 2026</a:t>
            </a:r>
            <a:endParaRPr sz="1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14"/>
          <p:cNvGrpSpPr/>
          <p:nvPr/>
        </p:nvGrpSpPr>
        <p:grpSpPr>
          <a:xfrm>
            <a:off x="177975" y="789457"/>
            <a:ext cx="2622000" cy="2303285"/>
            <a:chOff x="206425" y="1726495"/>
            <a:chExt cx="2622000" cy="2303285"/>
          </a:xfrm>
        </p:grpSpPr>
        <p:sp>
          <p:nvSpPr>
            <p:cNvPr id="63" name="Google Shape;63;p14"/>
            <p:cNvSpPr/>
            <p:nvPr/>
          </p:nvSpPr>
          <p:spPr>
            <a:xfrm>
              <a:off x="206425" y="1964246"/>
              <a:ext cx="2622000" cy="2065500"/>
            </a:xfrm>
            <a:prstGeom prst="rect">
              <a:avLst/>
            </a:prstGeom>
            <a:solidFill>
              <a:srgbClr val="B6D7A8"/>
            </a:solidFill>
            <a:ln cap="flat" cmpd="sng" w="3810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76506" y="1726495"/>
              <a:ext cx="1286700" cy="408300"/>
            </a:xfrm>
            <a:prstGeom prst="rect">
              <a:avLst/>
            </a:prstGeom>
            <a:solidFill>
              <a:srgbClr val="6AA84F"/>
            </a:solidFill>
            <a:ln cap="flat" cmpd="sng" w="3810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900"/>
                <a:t>Dataset</a:t>
              </a:r>
              <a:endParaRPr sz="1900"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274525" y="2275080"/>
              <a:ext cx="2485800" cy="175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700">
                  <a:solidFill>
                    <a:schemeClr val="dk2"/>
                  </a:solidFill>
                </a:rPr>
                <a:t>800 patients</a:t>
              </a:r>
              <a:endParaRPr b="1" sz="17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700">
                  <a:solidFill>
                    <a:schemeClr val="dk2"/>
                  </a:solidFill>
                </a:rPr>
                <a:t>Treatment:</a:t>
              </a:r>
              <a:r>
                <a:rPr lang="uk" sz="1700">
                  <a:solidFill>
                    <a:schemeClr val="dk2"/>
                  </a:solidFill>
                </a:rPr>
                <a:t> drug (1/0)</a:t>
              </a:r>
              <a:endParaRPr sz="17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700">
                  <a:solidFill>
                    <a:schemeClr val="dk2"/>
                  </a:solidFill>
                </a:rPr>
                <a:t>Outcome:</a:t>
              </a:r>
              <a:r>
                <a:rPr lang="uk" sz="1700">
                  <a:solidFill>
                    <a:schemeClr val="dk2"/>
                  </a:solidFill>
                </a:rPr>
                <a:t> recover (1/0)</a:t>
              </a:r>
              <a:endParaRPr sz="17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700">
                  <a:solidFill>
                    <a:schemeClr val="dk2"/>
                  </a:solidFill>
                </a:rPr>
                <a:t>Confounders: </a:t>
              </a:r>
              <a:r>
                <a:rPr lang="uk" sz="1700">
                  <a:solidFill>
                    <a:schemeClr val="dk2"/>
                  </a:solidFill>
                </a:rPr>
                <a:t>age, SES, hospital_rating</a:t>
              </a:r>
              <a:endParaRPr sz="1700">
                <a:solidFill>
                  <a:schemeClr val="dk2"/>
                </a:solidFill>
              </a:endParaRPr>
            </a:p>
          </p:txBody>
        </p:sp>
      </p:grpSp>
      <p:sp>
        <p:nvSpPr>
          <p:cNvPr id="66" name="Google Shape;66;p14"/>
          <p:cNvSpPr txBox="1"/>
          <p:nvPr>
            <p:ph type="ctrTitle"/>
          </p:nvPr>
        </p:nvSpPr>
        <p:spPr>
          <a:xfrm>
            <a:off x="0" y="0"/>
            <a:ext cx="9144000" cy="631500"/>
          </a:xfrm>
          <a:prstGeom prst="rect">
            <a:avLst/>
          </a:prstGeom>
          <a:solidFill>
            <a:srgbClr val="D0E0E3"/>
          </a:solidFill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k" sz="3040">
                <a:solidFill>
                  <a:srgbClr val="434343"/>
                </a:solidFill>
              </a:rPr>
              <a:t>Simpson’s Paradox in Drug Recovery</a:t>
            </a:r>
            <a:endParaRPr sz="3040">
              <a:solidFill>
                <a:srgbClr val="434343"/>
              </a:solidFill>
            </a:endParaRPr>
          </a:p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0" y="4735200"/>
            <a:ext cx="2622000" cy="40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uk" sz="1400"/>
              <a:t>Polina Tohoieva</a:t>
            </a:r>
            <a:endParaRPr sz="1400"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550" y="819263"/>
            <a:ext cx="7147376" cy="970750"/>
          </a:xfrm>
          <a:prstGeom prst="rect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69" name="Google Shape;69;p14"/>
          <p:cNvGrpSpPr/>
          <p:nvPr/>
        </p:nvGrpSpPr>
        <p:grpSpPr>
          <a:xfrm>
            <a:off x="4218676" y="1876700"/>
            <a:ext cx="4751209" cy="3153075"/>
            <a:chOff x="4289200" y="885000"/>
            <a:chExt cx="4644842" cy="3082486"/>
          </a:xfrm>
        </p:grpSpPr>
        <p:pic>
          <p:nvPicPr>
            <p:cNvPr id="70" name="Google Shape;70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89200" y="885000"/>
              <a:ext cx="4644842" cy="3082486"/>
            </a:xfrm>
            <a:prstGeom prst="rect">
              <a:avLst/>
            </a:prstGeom>
            <a:noFill/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1" name="Google Shape;71;p14"/>
            <p:cNvSpPr/>
            <p:nvPr/>
          </p:nvSpPr>
          <p:spPr>
            <a:xfrm>
              <a:off x="4310425" y="2948475"/>
              <a:ext cx="1421700" cy="184800"/>
            </a:xfrm>
            <a:prstGeom prst="roundRect">
              <a:avLst>
                <a:gd fmla="val 16667" name="adj"/>
              </a:avLst>
            </a:prstGeom>
            <a:noFill/>
            <a:ln cap="flat" cmpd="sng" w="195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3500" lIns="93500" spcFirstLastPara="1" rIns="93500" wrap="square" tIns="93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2"/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528850" y="3332583"/>
            <a:ext cx="3084785" cy="1219642"/>
            <a:chOff x="4519952" y="4041625"/>
            <a:chExt cx="3088800" cy="1219642"/>
          </a:xfrm>
        </p:grpSpPr>
        <p:sp>
          <p:nvSpPr>
            <p:cNvPr id="73" name="Google Shape;73;p14"/>
            <p:cNvSpPr/>
            <p:nvPr/>
          </p:nvSpPr>
          <p:spPr>
            <a:xfrm>
              <a:off x="4519952" y="4315667"/>
              <a:ext cx="3088800" cy="945600"/>
            </a:xfrm>
            <a:prstGeom prst="rect">
              <a:avLst/>
            </a:prstGeom>
            <a:solidFill>
              <a:srgbClr val="D5A6BD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858800" y="4041625"/>
              <a:ext cx="1663200" cy="408300"/>
            </a:xfrm>
            <a:prstGeom prst="rect">
              <a:avLst/>
            </a:prstGeom>
            <a:solidFill>
              <a:srgbClr val="A64D79"/>
            </a:solidFill>
            <a:ln cap="flat" cmpd="sng" w="38100">
              <a:solidFill>
                <a:srgbClr val="741B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900"/>
                <a:t>Naive Model</a:t>
              </a:r>
              <a:endParaRPr sz="1900"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4519952" y="4449917"/>
              <a:ext cx="30885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700">
                  <a:solidFill>
                    <a:schemeClr val="dk2"/>
                  </a:solidFill>
                </a:rPr>
                <a:t>The drug appears to increase recovery rates by about 10%</a:t>
              </a:r>
              <a:endParaRPr sz="1700">
                <a:solidFill>
                  <a:schemeClr val="dk2"/>
                </a:solidFill>
              </a:endParaRPr>
            </a:p>
          </p:txBody>
        </p:sp>
      </p:grpSp>
      <p:sp>
        <p:nvSpPr>
          <p:cNvPr id="76" name="Google Shape;76;p14"/>
          <p:cNvSpPr txBox="1"/>
          <p:nvPr/>
        </p:nvSpPr>
        <p:spPr>
          <a:xfrm>
            <a:off x="2484302" y="3250808"/>
            <a:ext cx="125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800">
                <a:solidFill>
                  <a:srgbClr val="FF0000"/>
                </a:solidFill>
              </a:rPr>
              <a:t>not causal 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77" name="Google Shape;77;p14"/>
          <p:cNvCxnSpPr>
            <a:stCxn id="75" idx="3"/>
            <a:endCxn id="71" idx="1"/>
          </p:cNvCxnSpPr>
          <p:nvPr/>
        </p:nvCxnSpPr>
        <p:spPr>
          <a:xfrm flipH="1" rot="10800000">
            <a:off x="3613335" y="4081975"/>
            <a:ext cx="627000" cy="12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/>
          <p:nvPr/>
        </p:nvSpPr>
        <p:spPr>
          <a:xfrm>
            <a:off x="4301400" y="808425"/>
            <a:ext cx="4719000" cy="890100"/>
          </a:xfrm>
          <a:prstGeom prst="rect">
            <a:avLst/>
          </a:prstGeom>
          <a:solidFill>
            <a:srgbClr val="D5A6BD"/>
          </a:solidFill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15"/>
          <p:cNvGrpSpPr/>
          <p:nvPr/>
        </p:nvGrpSpPr>
        <p:grpSpPr>
          <a:xfrm>
            <a:off x="177975" y="927690"/>
            <a:ext cx="3137573" cy="2644535"/>
            <a:chOff x="206428" y="1885559"/>
            <a:chExt cx="1617890" cy="2644535"/>
          </a:xfrm>
        </p:grpSpPr>
        <p:sp>
          <p:nvSpPr>
            <p:cNvPr id="84" name="Google Shape;84;p15"/>
            <p:cNvSpPr/>
            <p:nvPr/>
          </p:nvSpPr>
          <p:spPr>
            <a:xfrm>
              <a:off x="206428" y="2106394"/>
              <a:ext cx="1601100" cy="2423700"/>
            </a:xfrm>
            <a:prstGeom prst="rect">
              <a:avLst/>
            </a:prstGeom>
            <a:solidFill>
              <a:srgbClr val="B4A7D6"/>
            </a:solidFill>
            <a:ln cap="flat" cmpd="sng" w="38100">
              <a:solidFill>
                <a:srgbClr val="351C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754082" y="1885559"/>
              <a:ext cx="505800" cy="408300"/>
            </a:xfrm>
            <a:prstGeom prst="rect">
              <a:avLst/>
            </a:prstGeom>
            <a:solidFill>
              <a:srgbClr val="674EA7"/>
            </a:solidFill>
            <a:ln cap="flat" cmpd="sng" w="38100">
              <a:solidFill>
                <a:srgbClr val="351C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900"/>
                <a:t>Cause</a:t>
              </a:r>
              <a:endParaRPr sz="1900"/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223218" y="2252033"/>
              <a:ext cx="1601100" cy="22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700">
                  <a:solidFill>
                    <a:schemeClr val="dk2"/>
                  </a:solidFill>
                </a:rPr>
                <a:t>Treatment imbalance</a:t>
              </a:r>
              <a:endParaRPr b="1" sz="170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00">
                <a:solidFill>
                  <a:schemeClr val="dk2"/>
                </a:solidFill>
              </a:endParaRPr>
            </a:p>
            <a:p>
              <a:pPr indent="-3365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700"/>
                <a:buChar char="●"/>
              </a:pPr>
              <a:r>
                <a:rPr lang="uk" sz="1700">
                  <a:solidFill>
                    <a:schemeClr val="dk2"/>
                  </a:solidFill>
                </a:rPr>
                <a:t>Drug is mostly given to Old patients</a:t>
              </a:r>
              <a:endParaRPr sz="1700">
                <a:solidFill>
                  <a:schemeClr val="dk2"/>
                </a:solidFill>
              </a:endParaRPr>
            </a:p>
            <a:p>
              <a:pPr indent="-3365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700"/>
                <a:buChar char="●"/>
              </a:pPr>
              <a:r>
                <a:rPr lang="uk" sz="1700">
                  <a:solidFill>
                    <a:schemeClr val="dk2"/>
                  </a:solidFill>
                </a:rPr>
                <a:t>Old patients have higher recovery rates</a:t>
              </a:r>
              <a:endParaRPr sz="1700">
                <a:solidFill>
                  <a:schemeClr val="dk2"/>
                </a:solidFill>
              </a:endParaRPr>
            </a:p>
            <a:p>
              <a:pPr indent="-3365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1700"/>
                <a:buChar char="●"/>
              </a:pPr>
              <a:r>
                <a:rPr lang="uk" sz="1700">
                  <a:solidFill>
                    <a:schemeClr val="dk2"/>
                  </a:solidFill>
                </a:rPr>
                <a:t>The drug group looks artificially better in total</a:t>
              </a:r>
              <a:endParaRPr sz="1700">
                <a:solidFill>
                  <a:schemeClr val="dk2"/>
                </a:solidFill>
              </a:endParaRPr>
            </a:p>
          </p:txBody>
        </p:sp>
      </p:grp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550" y="877458"/>
            <a:ext cx="1504950" cy="923925"/>
          </a:xfrm>
          <a:prstGeom prst="rect">
            <a:avLst/>
          </a:prstGeom>
          <a:noFill/>
          <a:ln cap="flat" cmpd="sng" w="38100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125" y="1858373"/>
            <a:ext cx="4513351" cy="3144325"/>
          </a:xfrm>
          <a:prstGeom prst="rect">
            <a:avLst/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9" name="Google Shape;89;p15"/>
          <p:cNvSpPr/>
          <p:nvPr/>
        </p:nvSpPr>
        <p:spPr>
          <a:xfrm>
            <a:off x="4461125" y="3737851"/>
            <a:ext cx="1454400" cy="142200"/>
          </a:xfrm>
          <a:prstGeom prst="roundRect">
            <a:avLst>
              <a:gd fmla="val 16667" name="adj"/>
            </a:avLst>
          </a:prstGeom>
          <a:noFill/>
          <a:ln cap="flat" cmpd="sng" w="195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500" lIns="93500" spcFirstLastPara="1" rIns="93500" wrap="square" tIns="93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2"/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1115" y="890214"/>
            <a:ext cx="1504950" cy="726524"/>
          </a:xfrm>
          <a:prstGeom prst="rect">
            <a:avLst/>
          </a:prstGeom>
          <a:noFill/>
          <a:ln cap="flat" cmpd="sng" w="38100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91" name="Google Shape;91;p15"/>
          <p:cNvGrpSpPr/>
          <p:nvPr/>
        </p:nvGrpSpPr>
        <p:grpSpPr>
          <a:xfrm>
            <a:off x="311700" y="3638047"/>
            <a:ext cx="3864217" cy="1401775"/>
            <a:chOff x="206428" y="1885551"/>
            <a:chExt cx="1992583" cy="1401775"/>
          </a:xfrm>
        </p:grpSpPr>
        <p:sp>
          <p:nvSpPr>
            <p:cNvPr id="92" name="Google Shape;92;p15"/>
            <p:cNvSpPr/>
            <p:nvPr/>
          </p:nvSpPr>
          <p:spPr>
            <a:xfrm>
              <a:off x="206428" y="2106401"/>
              <a:ext cx="1975800" cy="1180800"/>
            </a:xfrm>
            <a:prstGeom prst="rect">
              <a:avLst/>
            </a:prstGeom>
            <a:solidFill>
              <a:srgbClr val="A4C2F4"/>
            </a:solidFill>
            <a:ln cap="flat" cmpd="sng" w="38100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489430" y="1885551"/>
              <a:ext cx="1035000" cy="408300"/>
            </a:xfrm>
            <a:prstGeom prst="rect">
              <a:avLst/>
            </a:prstGeom>
            <a:solidFill>
              <a:srgbClr val="3C78D8"/>
            </a:solidFill>
            <a:ln cap="flat" cmpd="sng" w="38100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900"/>
                <a:t>Controlled model</a:t>
              </a:r>
              <a:endParaRPr sz="1900"/>
            </a:p>
          </p:txBody>
        </p:sp>
        <p:sp>
          <p:nvSpPr>
            <p:cNvPr id="94" name="Google Shape;94;p15"/>
            <p:cNvSpPr txBox="1"/>
            <p:nvPr/>
          </p:nvSpPr>
          <p:spPr>
            <a:xfrm>
              <a:off x="223212" y="2317726"/>
              <a:ext cx="1975800" cy="9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700">
                  <a:solidFill>
                    <a:schemeClr val="dk2"/>
                  </a:solidFill>
                </a:rPr>
                <a:t>After controlling for age, SES, and hospital rating, the estimated effect of the drug becomes negative </a:t>
              </a:r>
              <a:endParaRPr sz="1700">
                <a:solidFill>
                  <a:schemeClr val="dk2"/>
                </a:solidFill>
              </a:endParaRPr>
            </a:p>
          </p:txBody>
        </p:sp>
      </p:grpSp>
      <p:cxnSp>
        <p:nvCxnSpPr>
          <p:cNvPr id="95" name="Google Shape;95;p15"/>
          <p:cNvCxnSpPr>
            <a:endCxn id="89" idx="1"/>
          </p:cNvCxnSpPr>
          <p:nvPr/>
        </p:nvCxnSpPr>
        <p:spPr>
          <a:xfrm flipH="1" rot="10800000">
            <a:off x="4141625" y="3808951"/>
            <a:ext cx="319500" cy="73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5"/>
          <p:cNvSpPr txBox="1"/>
          <p:nvPr/>
        </p:nvSpPr>
        <p:spPr>
          <a:xfrm>
            <a:off x="6095676" y="890938"/>
            <a:ext cx="2878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700">
                <a:solidFill>
                  <a:schemeClr val="dk2"/>
                </a:solidFill>
              </a:rPr>
              <a:t>Within each group, the drug reduces recovery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0" y="0"/>
            <a:ext cx="9144000" cy="6315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3040">
                <a:solidFill>
                  <a:srgbClr val="434343"/>
                </a:solidFill>
              </a:rPr>
              <a:t>Simpson’s Paradox in Drug Recovery</a:t>
            </a:r>
            <a:endParaRPr sz="304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